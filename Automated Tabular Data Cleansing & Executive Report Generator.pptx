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bold r:id="rId14"/>
    </p:embeddedFont>
    <p:embeddedFont>
      <p:font typeface="JetBrains Mono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342" y="725772"/>
            <a:ext cx="9701212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 dirty="0">
                <a:solidFill>
                  <a:srgbClr val="F8FAFC"/>
                </a:solidFill>
                <a:latin typeface="Space Grotesk"/>
              </a:rPr>
              <a:t>Automated Tabular Data Cleansing &amp; Executive Report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342" y="2113658"/>
            <a:ext cx="7524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94A3B8"/>
                </a:solidFill>
                <a:latin typeface="DM Sans"/>
              </a:rPr>
              <a:t>Zero-code desktop solution transforming raw operational spreadsheets into publication-ready executive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42" y="2756809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E2E8F0"/>
                </a:solidFill>
                <a:latin typeface="DM Sans"/>
              </a:rPr>
              <a:t>Presented by </a:t>
            </a:r>
            <a:r>
              <a:rPr sz="1350" b="1" i="0" u="none" dirty="0">
                <a:solidFill>
                  <a:srgbClr val="E2E8F0"/>
                </a:solidFill>
                <a:latin typeface="DM Sans"/>
              </a:rPr>
              <a:t>Anurag Kumar Poddar</a:t>
            </a:r>
            <a:r>
              <a:rPr sz="1350" b="0" i="0" u="none" dirty="0">
                <a:solidFill>
                  <a:srgbClr val="E2E8F0"/>
                </a:solidFill>
                <a:latin typeface="DM Sans"/>
              </a:rPr>
              <a:t>  |  Data Analyst (Python, SQL, Power BI)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404B3-9E2F-141B-7630-939220B4B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42" y="3076110"/>
            <a:ext cx="10977716" cy="3781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28800"/>
            <a:ext cx="5257800" cy="419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28800"/>
            <a:ext cx="52578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28962"/>
            <a:ext cx="1809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76662"/>
            <a:ext cx="1809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24362"/>
            <a:ext cx="1809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072062"/>
            <a:ext cx="1809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Corporate Reporting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24100"/>
            <a:ext cx="53530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DM Sans"/>
              </a:rPr>
              <a:t>Ad-hoc reporting stalls when raw exports require repetitive manual cleanup before basic aggregation.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05150"/>
            <a:ext cx="5353050" cy="4762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String-Locked Numbers: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Comma-formatted figures break formulas.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52850"/>
            <a:ext cx="5353050" cy="4762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Unstandardized Text: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Casing typos split identical categories.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00550"/>
            <a:ext cx="5353050" cy="4762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Corrupted Records: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Null entries distort statistical averages.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48250"/>
            <a:ext cx="5353050" cy="4762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DM Sans"/>
              </a:rPr>
              <a:t>Manual Charting:</a:t>
            </a:r>
            <a:r>
              <a:rPr sz="1425" b="0" i="0" u="none">
                <a:solidFill>
                  <a:srgbClr val="334155"/>
                </a:solidFill>
                <a:latin typeface="DM Sans"/>
              </a:rPr>
              <a:t> Repetitive formatting wastes analyst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76219" y="4248150"/>
            <a:ext cx="4206180" cy="895350"/>
          </a:xfrm>
          <a:prstGeom prst="roundRect">
            <a:avLst>
              <a:gd name="adj" fmla="val 1276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3550"/>
            <a:ext cx="6309419" cy="438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3550"/>
            <a:ext cx="6309419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EXECUTIVE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Introducing CorporateReportBuilder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6219" y="2705100"/>
            <a:ext cx="481578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Zero-Code Desktop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6219" y="3276600"/>
            <a:ext cx="430143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A unified Python desktop utility automating file ingestion, data sanitization, dynamic GroupBy aggregation, and visual export in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4819" y="4476750"/>
            <a:ext cx="384423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JetBrains Mono"/>
              </a:rPr>
              <a:t>CSV / XLSX / XLS → Clean Report + 200 DPI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67125"/>
            <a:ext cx="2042219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42319" y="3667125"/>
            <a:ext cx="2042219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75039" y="3667125"/>
            <a:ext cx="2042219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07758" y="3552825"/>
            <a:ext cx="2042219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40478" y="3667125"/>
            <a:ext cx="2042219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10972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SYSTEM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End-to-End Automation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95725"/>
            <a:ext cx="19812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24325"/>
            <a:ext cx="208033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File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48175"/>
            <a:ext cx="168026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Load CSV or Excel workbooks.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0919" y="3895725"/>
            <a:ext cx="19812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0919" y="4124325"/>
            <a:ext cx="208033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Type Heuristics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0919" y="4448175"/>
            <a:ext cx="168026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Scan columns for numeric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639" y="3895725"/>
            <a:ext cx="19812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639" y="4124325"/>
            <a:ext cx="208033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Sanitization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639" y="4448175"/>
            <a:ext cx="168026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Standardize strings and strip commas.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6358" y="3781425"/>
            <a:ext cx="19812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STEP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6358" y="4010025"/>
            <a:ext cx="208033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6358" y="4333875"/>
            <a:ext cx="168026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Execute GroupBy and sort descending.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9078" y="3895725"/>
            <a:ext cx="198127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D97706"/>
                </a:solidFill>
                <a:latin typeface="JetBrains Mono"/>
              </a:rPr>
              <a:t>STEP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9078" y="4124325"/>
            <a:ext cx="208033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One-Click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9078" y="4448175"/>
            <a:ext cx="168026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Save clean tables and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INTELLIGENT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Smart Heuristic Type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8653" y="2724150"/>
            <a:ext cx="4034544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0284C7"/>
                </a:solidFill>
                <a:latin typeface="Space Grotesk"/>
              </a:rPr>
              <a:t>≥ 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20490" y="4095750"/>
            <a:ext cx="815101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Space Grotesk"/>
              </a:rPr>
              <a:t>Automated Numeric Column Detection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25" y="4552950"/>
            <a:ext cx="9048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DM Sans"/>
              </a:rPr>
              <a:t>Scans string-typed columns upon file load and automatically unlocks numeric aggregation if 60% of records parse as valid numbers after comma removal.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52578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847975"/>
            <a:ext cx="52578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DATA SANITIZATION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Automated Data Cleansing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190875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C2626"/>
                </a:solidFill>
                <a:latin typeface="JetBrains Mono"/>
              </a:rPr>
              <a:t>RAW UNCLEANSED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190875"/>
            <a:ext cx="5524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JetBrains Mono"/>
              </a:rPr>
              <a:t>SANITIZED PIPELINE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3377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Category Typos: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" north " vs "NORTH"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7192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Formatted Strings: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"12,500.00" stored as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41007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Corrupted Cells: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"N/A" or "Pending" in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533775"/>
            <a:ext cx="5524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Title Case Sync: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Standardized to "North"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971925"/>
            <a:ext cx="5524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Float Coercion: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Converted cleanly to 12500.0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4410075"/>
            <a:ext cx="5524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Null Filtering: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Coerced to NaN and dropped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0837"/>
            <a:ext cx="3454449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90837"/>
            <a:ext cx="3454449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90837"/>
            <a:ext cx="3454449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23373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49" y="3233737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999" y="3233737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REPORTING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Dynamic GroupBy &amp;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29037"/>
            <a:ext cx="363385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Auto-Synced Selectors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138612"/>
            <a:ext cx="286389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Instant column mapping via dropdowns.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1749" y="3729037"/>
            <a:ext cx="363385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Six Core Aggregations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4138612"/>
            <a:ext cx="286389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Sum, Mean, Median, Max, Min,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729037"/>
            <a:ext cx="363385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Formatted Live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0999" y="4138612"/>
            <a:ext cx="2863899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475569"/>
                </a:solidFill>
                <a:latin typeface="DM Sans"/>
              </a:rPr>
              <a:t>Sorted descending with two-decimal precision.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Smart Top-N Visual Slicing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014537"/>
          <a:ext cx="10972799" cy="3781425"/>
        </p:xfrm>
        <a:graphic>
          <a:graphicData uri="http://schemas.openxmlformats.org/drawingml/2006/table">
            <a:tbl>
              <a:tblPr/>
              <a:tblGrid>
                <a:gridCol w="3137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8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Method Signature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Subsystem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Core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_build_ui()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Tkinter GUI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Initializes 1100x700 window, dropdowns, Treeview, and chart frame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_safe_numeric_convert()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Sanitization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Strips commas from string series and coerces numbers safely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read_file()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Ingestion &amp; Profiler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Extracts dataset dimensions and runs 60% numeric heuristic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preview_report()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Pandas GroupBy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Applies Title Case, drops nulls, aggregates, and sorts descending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20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preview_chart()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Matplotlib Canvas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Slices Top-N records and embeds plots via FigureCanvasTkAgg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207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284C7"/>
                          </a:solidFill>
                          <a:latin typeface="JetBrains Mono"/>
                        </a:rPr>
                        <a:t>export_report() / _chart()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File Persistence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DM Sans"/>
                        </a:rPr>
                        <a:t>Saves Excel/CSV summaries and 200 DPI PNG charts to source folder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MODULAR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System Architecture: CorporateReportBuilder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800"/>
            <a:ext cx="5257800" cy="419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52578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300412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986212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672012"/>
            <a:ext cx="21907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OUTPUT &amp;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One-Click Executive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2705100"/>
            <a:ext cx="5867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pace Grotesk"/>
              </a:rPr>
              <a:t>Boardroom-Ready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276600"/>
            <a:ext cx="5353050" cy="495300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Tabular Exports: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Writes clean .xlsx or .csv summaries.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962400"/>
            <a:ext cx="5353050" cy="4953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High-Resolution Visuals: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Exports crisp 200 DPI .png charts.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4648200"/>
            <a:ext cx="5353050" cy="49530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Zero Path Friction: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Auto-saves directly in the source directory.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66925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1375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95825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38400"/>
            <a:ext cx="4572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752850"/>
            <a:ext cx="4572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067300"/>
            <a:ext cx="4572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JetBrains Mono"/>
              </a:rPr>
              <a:t>NEXT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Future Scalability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2333625"/>
            <a:ext cx="10515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Multi-Level Hierarchical Grouping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657475"/>
            <a:ext cx="10060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Support simultaneous grouping across multiple categorical dimensions for cross-tabulated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3648075"/>
            <a:ext cx="992624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Custom Pre-Aggregation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3971925"/>
            <a:ext cx="9453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Add interactive date-range pickers and numeric threshold controls prior to GroupBy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4962525"/>
            <a:ext cx="10515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Automated PDF &amp; PPTX Executive Bundling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5286375"/>
            <a:ext cx="1051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Compile both the formatted summary table and high-DPI chart into a single downloadable executive briefing.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010025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58057" y="2295525"/>
            <a:ext cx="7075884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Thank You &amp;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2031" y="4352925"/>
            <a:ext cx="25479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DM Sans"/>
              </a:rPr>
              <a:t>Anurag Kumar Poddar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2781" y="4676775"/>
            <a:ext cx="5786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DM Sans"/>
              </a:rPr>
              <a:t>Data Analyst  |  Python • SQL • Power BI • 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574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DM Sans</vt:lpstr>
      <vt:lpstr>JetBrains Mono</vt:lpstr>
      <vt:lpstr>Calibri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PODDAR</cp:lastModifiedBy>
  <cp:revision>3</cp:revision>
  <dcterms:created xsi:type="dcterms:W3CDTF">2013-01-27T09:14:16Z</dcterms:created>
  <dcterms:modified xsi:type="dcterms:W3CDTF">2026-10-23T19:06:11Z</dcterms:modified>
  <cp:category/>
</cp:coreProperties>
</file>